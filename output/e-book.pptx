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9"/>
  </p:notesMasterIdLst>
  <p:sldIdLst>
    <p:sldId id="257" r:id="rId2"/>
    <p:sldId id="258" r:id="rId3"/>
    <p:sldId id="259" r:id="rId4"/>
    <p:sldId id="256" r:id="rId5"/>
    <p:sldId id="260" r:id="rId6"/>
    <p:sldId id="261" r:id="rId7"/>
    <p:sldId id="263" r:id="rId8"/>
    <p:sldId id="264" r:id="rId9"/>
    <p:sldId id="265" r:id="rId10"/>
    <p:sldId id="266" r:id="rId11"/>
    <p:sldId id="270" r:id="rId12"/>
    <p:sldId id="271" r:id="rId13"/>
    <p:sldId id="272" r:id="rId14"/>
    <p:sldId id="273" r:id="rId15"/>
    <p:sldId id="267" r:id="rId16"/>
    <p:sldId id="268" r:id="rId17"/>
    <p:sldId id="269" r:id="rId18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499AB"/>
    <a:srgbClr val="90C9D4"/>
    <a:srgbClr val="CCF4E7"/>
    <a:srgbClr val="000008"/>
    <a:srgbClr val="345381"/>
    <a:srgbClr val="0106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3" d="100"/>
          <a:sy n="53" d="100"/>
        </p:scale>
        <p:origin x="2645" y="67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95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3AA054-8E42-499D-9AA1-17A4CB544B34}" type="datetimeFigureOut">
              <a:rPr lang="pt-BR" smtClean="0"/>
              <a:t>15/08/2025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B3084E-01C4-4F84-92CE-8C5415D0E9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5992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3084E-01C4-4F84-92CE-8C5415D0E94B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37419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129D3-C8AD-BCD7-A456-FD324B917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0777F0A-A8B3-B10B-0AFC-8DC4374767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AB8E177-0E3B-3EC7-0D96-1DA97AC328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439A0F7-4E8B-0219-E704-ABAD8FD257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3084E-01C4-4F84-92CE-8C5415D0E94B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60644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FDFB6-171B-3617-6A7C-9DE1E820F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0F75664-386D-D4ED-62FC-55D7CCDA83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F0DDEF0-6E76-C3F4-7593-C611D0149F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0403A92-C026-F71A-73A0-6C133D3472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3084E-01C4-4F84-92CE-8C5415D0E94B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23255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37D5C-6ACC-F1CC-A556-66CD3C892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057CA85-3048-2895-8A27-54F4E567D8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625C049-002D-AABE-86C0-32DA015F0B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1FB7106-364B-9187-F32E-1617F4EB17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3084E-01C4-4F84-92CE-8C5415D0E94B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5112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29A38-4331-4EAE-B6B9-3EC9D5B2287C}" type="datetime1">
              <a:rPr lang="pt-BR" smtClean="0"/>
              <a:t>15/08/2025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8936-71E3-40FB-908B-B2D43CF26F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3860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1FAC3-AC07-4D40-B580-18AB2615C2F1}" type="datetime1">
              <a:rPr lang="pt-BR" smtClean="0"/>
              <a:t>15/08/2025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8936-71E3-40FB-908B-B2D43CF26F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95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B89E-57E6-4208-9AB6-9381B63AD3F2}" type="datetime1">
              <a:rPr lang="pt-BR" smtClean="0"/>
              <a:t>15/08/2025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8936-71E3-40FB-908B-B2D43CF26F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949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41F98-D26D-454E-8B22-6C5E746380D0}" type="datetime1">
              <a:rPr lang="pt-BR" smtClean="0"/>
              <a:t>15/08/2025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8936-71E3-40FB-908B-B2D43CF26F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7014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2B1B-C739-4B58-A67D-148D066468B7}" type="datetime1">
              <a:rPr lang="pt-BR" smtClean="0"/>
              <a:t>15/08/2025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8936-71E3-40FB-908B-B2D43CF26F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0898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3D649-F391-4470-9039-9D8F5DD72E05}" type="datetime1">
              <a:rPr lang="pt-BR" smtClean="0"/>
              <a:t>15/08/2025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8936-71E3-40FB-908B-B2D43CF26F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2827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95AE-B0BE-4960-8434-F20E6EEE821F}" type="datetime1">
              <a:rPr lang="pt-BR" smtClean="0"/>
              <a:t>15/08/2025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8936-71E3-40FB-908B-B2D43CF26F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8514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C72D1-0D61-4780-9698-F3B9F54F4E6F}" type="datetime1">
              <a:rPr lang="pt-BR" smtClean="0"/>
              <a:t>15/08/2025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8936-71E3-40FB-908B-B2D43CF26F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8381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E9D8E-5BB0-49D4-9631-A2A01ADB5B15}" type="datetime1">
              <a:rPr lang="pt-BR" smtClean="0"/>
              <a:t>15/08/2025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8936-71E3-40FB-908B-B2D43CF26F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3561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6A305-522B-4635-AAC7-CA6BA7B3688C}" type="datetime1">
              <a:rPr lang="pt-BR" smtClean="0"/>
              <a:t>15/08/2025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8936-71E3-40FB-908B-B2D43CF26F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9707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291C2-EFD4-4808-9857-EDABCEE55B45}" type="datetime1">
              <a:rPr lang="pt-BR" smtClean="0"/>
              <a:t>15/08/2025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8936-71E3-40FB-908B-B2D43CF26F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6845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C9072F-D458-4996-8C3C-8599CAB1C76E}" type="datetime1">
              <a:rPr lang="pt-BR" smtClean="0"/>
              <a:t>15/08/2025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6A8936-71E3-40FB-908B-B2D43CF26F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2464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qlfiddle.com/" TargetMode="External"/><Relationship Id="rId2" Type="http://schemas.openxmlformats.org/officeDocument/2006/relationships/hyperlink" Target="https://db-fiddle.com/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hyperlink" Target="https://dev.mysql.com/downloads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8416AC8-0D6A-79F3-A11F-DD3696D50109}"/>
              </a:ext>
            </a:extLst>
          </p:cNvPr>
          <p:cNvSpPr txBox="1"/>
          <p:nvPr/>
        </p:nvSpPr>
        <p:spPr>
          <a:xfrm>
            <a:off x="1" y="3187700"/>
            <a:ext cx="6858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latin typeface="Verdana" panose="020B0604030504040204" pitchFamily="34" charset="0"/>
                <a:ea typeface="Verdana" panose="020B0604030504040204" pitchFamily="34" charset="0"/>
              </a:rPr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endParaRPr lang="pt-BR" sz="24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45F6FFF-DE61-B98C-8444-E8BAC7D29CBC}"/>
              </a:ext>
            </a:extLst>
          </p:cNvPr>
          <p:cNvSpPr txBox="1"/>
          <p:nvPr/>
        </p:nvSpPr>
        <p:spPr>
          <a:xfrm>
            <a:off x="0" y="2172791"/>
            <a:ext cx="6858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latin typeface="Trebuchet MS" panose="020B0603020202020204" pitchFamily="34" charset="0"/>
              </a:rPr>
              <a:t>Subtítulo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999F2DC-A13D-7E45-0E72-D9DBF9659770}"/>
              </a:ext>
            </a:extLst>
          </p:cNvPr>
          <p:cNvSpPr txBox="1"/>
          <p:nvPr/>
        </p:nvSpPr>
        <p:spPr>
          <a:xfrm>
            <a:off x="0" y="1168400"/>
            <a:ext cx="6858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Título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21BF561-6071-5544-422E-39B2B11C9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8936-71E3-40FB-908B-B2D43CF26F61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4094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39A1F41-E441-8864-D445-F6F76AB9CF53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gradFill flip="none" rotWithShape="1">
            <a:gsLst>
              <a:gs pos="77000">
                <a:srgbClr val="000008"/>
              </a:gs>
              <a:gs pos="100000">
                <a:srgbClr val="7499AB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C0621A58-0596-94E1-4D02-88330B37D8E2}"/>
              </a:ext>
            </a:extLst>
          </p:cNvPr>
          <p:cNvSpPr txBox="1"/>
          <p:nvPr/>
        </p:nvSpPr>
        <p:spPr>
          <a:xfrm>
            <a:off x="2002970" y="1529767"/>
            <a:ext cx="4325259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9900" b="1" dirty="0">
                <a:solidFill>
                  <a:schemeClr val="bg1"/>
                </a:solidFill>
                <a:effectLst>
                  <a:glow rad="609600">
                    <a:srgbClr val="7499AB">
                      <a:alpha val="54000"/>
                    </a:srgbClr>
                  </a:glo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Biome" panose="020B0502040204020203" pitchFamily="34" charset="0"/>
              </a:rPr>
              <a:t>1</a:t>
            </a:r>
          </a:p>
        </p:txBody>
      </p:sp>
      <p:sp>
        <p:nvSpPr>
          <p:cNvPr id="5" name="Titulo">
            <a:extLst>
              <a:ext uri="{FF2B5EF4-FFF2-40B4-BE49-F238E27FC236}">
                <a16:creationId xmlns:a16="http://schemas.microsoft.com/office/drawing/2014/main" id="{F7A2EB20-1FA6-A45C-5A43-9A44CBF2D162}"/>
              </a:ext>
            </a:extLst>
          </p:cNvPr>
          <p:cNvSpPr txBox="1"/>
          <p:nvPr/>
        </p:nvSpPr>
        <p:spPr>
          <a:xfrm>
            <a:off x="0" y="5494745"/>
            <a:ext cx="685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b="1" dirty="0">
                <a:solidFill>
                  <a:schemeClr val="bg1"/>
                </a:solidFill>
                <a:effectLst>
                  <a:glow rad="609600">
                    <a:srgbClr val="7499AB">
                      <a:alpha val="54000"/>
                    </a:srgbClr>
                  </a:glo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Biome" panose="020B0502040204020203" pitchFamily="34" charset="0"/>
              </a:rPr>
              <a:t>TITULO</a:t>
            </a: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7755DC50-522C-5C85-5792-8B67F1266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8326D039-4C32-386C-7041-53F872883B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685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18" name="Imagem 17" descr="Gráfico, Gráfico de explosão solar&#10;&#10;O conteúdo gerado por IA pode estar incorreto.">
            <a:extLst>
              <a:ext uri="{FF2B5EF4-FFF2-40B4-BE49-F238E27FC236}">
                <a16:creationId xmlns:a16="http://schemas.microsoft.com/office/drawing/2014/main" id="{270F6B2B-E635-CAA1-2E7C-D537560B57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3686" y="-432170"/>
            <a:ext cx="4252686" cy="3555155"/>
          </a:xfrm>
          <a:prstGeom prst="rect">
            <a:avLst/>
          </a:prstGeom>
        </p:spPr>
      </p:pic>
      <p:pic>
        <p:nvPicPr>
          <p:cNvPr id="19" name="Imagem 18" descr="Gráfico, Gráfico de explosão solar&#10;&#10;O conteúdo gerado por IA pode estar incorreto.">
            <a:extLst>
              <a:ext uri="{FF2B5EF4-FFF2-40B4-BE49-F238E27FC236}">
                <a16:creationId xmlns:a16="http://schemas.microsoft.com/office/drawing/2014/main" id="{959CDDF7-4F14-02DA-F8A3-B70D498A72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4513" y="6531663"/>
            <a:ext cx="2344057" cy="1959582"/>
          </a:xfrm>
          <a:prstGeom prst="rect">
            <a:avLst/>
          </a:prstGeom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4C7BE1D-68E8-2348-1B33-B3C2F9D77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8936-71E3-40FB-908B-B2D43CF26F61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4911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52A25E9-61A8-980B-B151-A440E0A00398}"/>
              </a:ext>
            </a:extLst>
          </p:cNvPr>
          <p:cNvSpPr txBox="1"/>
          <p:nvPr/>
        </p:nvSpPr>
        <p:spPr>
          <a:xfrm>
            <a:off x="1045029" y="3187700"/>
            <a:ext cx="550091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latin typeface="Verdana" panose="020B0604030504040204" pitchFamily="34" charset="0"/>
                <a:ea typeface="Verdana" panose="020B0604030504040204" pitchFamily="34" charset="0"/>
              </a:rPr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endParaRPr lang="pt-BR" sz="24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2B890E7-32E7-5D20-2163-7DC5F159D981}"/>
              </a:ext>
            </a:extLst>
          </p:cNvPr>
          <p:cNvSpPr txBox="1"/>
          <p:nvPr/>
        </p:nvSpPr>
        <p:spPr>
          <a:xfrm>
            <a:off x="1045028" y="2172791"/>
            <a:ext cx="55009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latin typeface="Trebuchet MS" panose="020B0603020202020204" pitchFamily="34" charset="0"/>
              </a:rPr>
              <a:t>Subtítulo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A4020F5-C248-1A5E-AC21-F87CDA596E52}"/>
              </a:ext>
            </a:extLst>
          </p:cNvPr>
          <p:cNvSpPr txBox="1"/>
          <p:nvPr/>
        </p:nvSpPr>
        <p:spPr>
          <a:xfrm>
            <a:off x="2351314" y="1168400"/>
            <a:ext cx="41946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Título</a:t>
            </a:r>
          </a:p>
        </p:txBody>
      </p:sp>
      <p:pic>
        <p:nvPicPr>
          <p:cNvPr id="6" name="Imagem 5" descr="Gráfico, Gráfico de explosão solar&#10;&#10;O conteúdo gerado por IA pode estar incorreto.">
            <a:extLst>
              <a:ext uri="{FF2B5EF4-FFF2-40B4-BE49-F238E27FC236}">
                <a16:creationId xmlns:a16="http://schemas.microsoft.com/office/drawing/2014/main" id="{EBD63718-1C91-BCCC-04A8-77F7F372E6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3200" y="-322497"/>
            <a:ext cx="2554514" cy="2517059"/>
          </a:xfrm>
          <a:prstGeom prst="rect">
            <a:avLst/>
          </a:prstGeom>
        </p:spPr>
      </p:pic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222B8C5-1820-5A26-3E74-79107BFFC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8936-71E3-40FB-908B-B2D43CF26F61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0830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undo">
            <a:extLst>
              <a:ext uri="{FF2B5EF4-FFF2-40B4-BE49-F238E27FC236}">
                <a16:creationId xmlns:a16="http://schemas.microsoft.com/office/drawing/2014/main" id="{9691E4E1-7D4A-1662-8C27-EAB7F5F64A21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solidFill>
            <a:srgbClr val="0000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3" name="imagem principal" descr="Palco com banda pessoas cantando e tocando&#10;&#10;O conteúdo gerado por IA pode estar incorreto.">
            <a:extLst>
              <a:ext uri="{FF2B5EF4-FFF2-40B4-BE49-F238E27FC236}">
                <a16:creationId xmlns:a16="http://schemas.microsoft.com/office/drawing/2014/main" id="{843039EC-BE58-D0C0-B619-723DC4487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0"/>
            <a:ext cx="6858000" cy="6858000"/>
          </a:xfrm>
          <a:prstGeom prst="rect">
            <a:avLst/>
          </a:prstGeom>
        </p:spPr>
      </p:pic>
      <p:pic>
        <p:nvPicPr>
          <p:cNvPr id="18" name="MySQL" descr="Logotipo&#10;&#10;O conteúdo gerado por IA pode estar incorreto.">
            <a:extLst>
              <a:ext uri="{FF2B5EF4-FFF2-40B4-BE49-F238E27FC236}">
                <a16:creationId xmlns:a16="http://schemas.microsoft.com/office/drawing/2014/main" id="{7A4D7292-5B44-C81C-C598-E50A851B21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7259" y="104653"/>
            <a:ext cx="2543481" cy="1314695"/>
          </a:xfrm>
          <a:prstGeom prst="rect">
            <a:avLst/>
          </a:prstGeom>
        </p:spPr>
      </p:pic>
      <p:sp>
        <p:nvSpPr>
          <p:cNvPr id="20" name="SubTitulo">
            <a:extLst>
              <a:ext uri="{FF2B5EF4-FFF2-40B4-BE49-F238E27FC236}">
                <a16:creationId xmlns:a16="http://schemas.microsoft.com/office/drawing/2014/main" id="{910B9084-457F-AA2E-0004-CFEDB981BDD1}"/>
              </a:ext>
            </a:extLst>
          </p:cNvPr>
          <p:cNvSpPr txBox="1"/>
          <p:nvPr/>
        </p:nvSpPr>
        <p:spPr>
          <a:xfrm>
            <a:off x="0" y="8321553"/>
            <a:ext cx="6857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ebuchet MS" panose="020B0603020202020204" pitchFamily="34" charset="0"/>
                <a:cs typeface="Posterama" panose="020B0502040204020203" pitchFamily="34" charset="0"/>
              </a:rPr>
              <a:t>DESPERTANDO O VERDADEIRO PODER NO MYSQL</a:t>
            </a:r>
          </a:p>
        </p:txBody>
      </p:sp>
      <p:sp>
        <p:nvSpPr>
          <p:cNvPr id="19" name="Titulo">
            <a:extLst>
              <a:ext uri="{FF2B5EF4-FFF2-40B4-BE49-F238E27FC236}">
                <a16:creationId xmlns:a16="http://schemas.microsoft.com/office/drawing/2014/main" id="{20A9C537-00CF-B33E-459C-1F0F7B460AF2}"/>
              </a:ext>
            </a:extLst>
          </p:cNvPr>
          <p:cNvSpPr txBox="1"/>
          <p:nvPr/>
        </p:nvSpPr>
        <p:spPr>
          <a:xfrm>
            <a:off x="-1" y="7696864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solidFill>
                  <a:schemeClr val="bg1"/>
                </a:solidFill>
                <a:effectLst>
                  <a:glow rad="609600">
                    <a:srgbClr val="7499AB">
                      <a:alpha val="54000"/>
                    </a:srgbClr>
                  </a:glow>
                </a:effectLst>
                <a:latin typeface="Gill Sans MT" panose="020B0502020104020203" pitchFamily="34" charset="0"/>
                <a:cs typeface="Biome" panose="020B0502040204020203" pitchFamily="34" charset="0"/>
              </a:rPr>
              <a:t>OLHO DO ANALISTA</a:t>
            </a:r>
          </a:p>
        </p:txBody>
      </p:sp>
      <p:sp>
        <p:nvSpPr>
          <p:cNvPr id="23" name="SubTitulo">
            <a:extLst>
              <a:ext uri="{FF2B5EF4-FFF2-40B4-BE49-F238E27FC236}">
                <a16:creationId xmlns:a16="http://schemas.microsoft.com/office/drawing/2014/main" id="{3D8A6782-E753-3D11-590F-B3F8876BC02A}"/>
              </a:ext>
            </a:extLst>
          </p:cNvPr>
          <p:cNvSpPr txBox="1"/>
          <p:nvPr/>
        </p:nvSpPr>
        <p:spPr>
          <a:xfrm>
            <a:off x="12703" y="9477612"/>
            <a:ext cx="6857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dirty="0">
                <a:solidFill>
                  <a:schemeClr val="bg1"/>
                </a:solidFill>
                <a:latin typeface="Trebuchet MS" panose="020B0603020202020204" pitchFamily="34" charset="0"/>
                <a:cs typeface="Posterama" panose="020B0502040204020203" pitchFamily="34" charset="0"/>
              </a:rPr>
              <a:t>Fábio Luís de Oliveira</a:t>
            </a:r>
          </a:p>
        </p:txBody>
      </p:sp>
    </p:spTree>
    <p:extLst>
      <p:ext uri="{BB962C8B-B14F-4D97-AF65-F5344CB8AC3E}">
        <p14:creationId xmlns:p14="http://schemas.microsoft.com/office/powerpoint/2010/main" val="334950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F61FE-EEC9-DF3E-609C-3EF0D17C7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58F4FF6-0D22-6B8D-E3CD-DD8769DA6EC6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gradFill flip="none" rotWithShape="1">
            <a:gsLst>
              <a:gs pos="77000">
                <a:srgbClr val="000008"/>
              </a:gs>
              <a:gs pos="100000">
                <a:srgbClr val="7499AB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itulo">
            <a:extLst>
              <a:ext uri="{FF2B5EF4-FFF2-40B4-BE49-F238E27FC236}">
                <a16:creationId xmlns:a16="http://schemas.microsoft.com/office/drawing/2014/main" id="{869DFF93-6D03-0A1D-8CB7-769BE456F83D}"/>
              </a:ext>
            </a:extLst>
          </p:cNvPr>
          <p:cNvSpPr txBox="1"/>
          <p:nvPr/>
        </p:nvSpPr>
        <p:spPr>
          <a:xfrm>
            <a:off x="0" y="5494745"/>
            <a:ext cx="685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b="1" dirty="0">
                <a:solidFill>
                  <a:schemeClr val="bg1"/>
                </a:solidFill>
                <a:effectLst>
                  <a:glow rad="609600">
                    <a:srgbClr val="7499AB">
                      <a:alpha val="54000"/>
                    </a:srgbClr>
                  </a:glo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Biome" panose="020B0502040204020203" pitchFamily="34" charset="0"/>
              </a:rPr>
              <a:t>SUMÁRIO</a:t>
            </a: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43462F34-B3EE-9AC3-5BAD-B128A92A09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4F490C97-D136-262E-7144-832FF3451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685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18" name="Imagem 17" descr="Gráfico, Gráfico de explosão solar&#10;&#10;O conteúdo gerado por IA pode estar incorreto.">
            <a:extLst>
              <a:ext uri="{FF2B5EF4-FFF2-40B4-BE49-F238E27FC236}">
                <a16:creationId xmlns:a16="http://schemas.microsoft.com/office/drawing/2014/main" id="{A49DC1BB-393E-74AF-95BA-EE2412513A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3686" y="-432170"/>
            <a:ext cx="4252686" cy="3555155"/>
          </a:xfrm>
          <a:prstGeom prst="rect">
            <a:avLst/>
          </a:prstGeom>
        </p:spPr>
      </p:pic>
      <p:pic>
        <p:nvPicPr>
          <p:cNvPr id="19" name="Imagem 18" descr="Gráfico, Gráfico de explosão solar&#10;&#10;O conteúdo gerado por IA pode estar incorreto.">
            <a:extLst>
              <a:ext uri="{FF2B5EF4-FFF2-40B4-BE49-F238E27FC236}">
                <a16:creationId xmlns:a16="http://schemas.microsoft.com/office/drawing/2014/main" id="{C51E0812-FF33-71F1-4F24-F4E8899F0F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4513" y="6531663"/>
            <a:ext cx="2344057" cy="1959582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76EAA39F-D368-9CBA-6EB9-8714C3EFF769}"/>
              </a:ext>
            </a:extLst>
          </p:cNvPr>
          <p:cNvSpPr txBox="1"/>
          <p:nvPr/>
        </p:nvSpPr>
        <p:spPr>
          <a:xfrm>
            <a:off x="0" y="3312309"/>
            <a:ext cx="68579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Trebuchet MS" panose="020B0603020202020204" pitchFamily="34" charset="0"/>
              </a:rPr>
              <a:t>A filosofia do “Olho do Analista” se prepare para essa jornada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C73E63D2-80EC-8968-E7F1-5C8420854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8936-71E3-40FB-908B-B2D43CF26F61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4830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F5901-E3E5-F2A3-E6CF-753383D6D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CBB346AE-E5D8-A543-98FD-C6255910E027}"/>
              </a:ext>
            </a:extLst>
          </p:cNvPr>
          <p:cNvSpPr txBox="1"/>
          <p:nvPr/>
        </p:nvSpPr>
        <p:spPr>
          <a:xfrm>
            <a:off x="0" y="2085533"/>
            <a:ext cx="6857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>
                <a:latin typeface="Trebuchet MS" panose="020B0603020202020204" pitchFamily="34" charset="0"/>
              </a:defRPr>
            </a:lvl1pPr>
          </a:lstStyle>
          <a:p>
            <a:pPr algn="ctr"/>
            <a:r>
              <a:rPr lang="pt-BR" sz="2000" dirty="0"/>
              <a:t>🎯 Meta: Aprender a “ver” os dados com clareza e entender a base do MySQL para análise.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1EFB965-1B09-599E-5CBC-6D45B6511D68}"/>
              </a:ext>
            </a:extLst>
          </p:cNvPr>
          <p:cNvSpPr txBox="1"/>
          <p:nvPr/>
        </p:nvSpPr>
        <p:spPr>
          <a:xfrm>
            <a:off x="2351313" y="254000"/>
            <a:ext cx="432525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latin typeface="Segoe UI Black" panose="020B0A02040204020203" pitchFamily="34" charset="0"/>
                <a:ea typeface="Segoe UI Black" panose="020B0A02040204020203" pitchFamily="34" charset="0"/>
              </a:rPr>
              <a:t>PARTE I</a:t>
            </a:r>
          </a:p>
          <a:p>
            <a:r>
              <a:rPr lang="pt-BR" sz="2800" b="1" dirty="0">
                <a:latin typeface="Segoe UI Black" panose="020B0A02040204020203" pitchFamily="34" charset="0"/>
                <a:ea typeface="Segoe UI Black" panose="020B0A02040204020203" pitchFamily="34" charset="0"/>
              </a:rPr>
              <a:t>Despertando o Olho</a:t>
            </a:r>
            <a:r>
              <a:rPr lang="pt-BR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</a:p>
          <a:p>
            <a:r>
              <a:rPr lang="pt-BR" sz="2800" i="1" dirty="0">
                <a:latin typeface="Segoe UI Black" panose="020B0A02040204020203" pitchFamily="34" charset="0"/>
                <a:ea typeface="Segoe UI Black" panose="020B0A02040204020203" pitchFamily="34" charset="0"/>
              </a:rPr>
              <a:t>(Fundamentos)</a:t>
            </a:r>
            <a:endParaRPr lang="pt-BR" sz="28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6" name="Imagem 5" descr="Gráfico, Gráfico de explosão solar&#10;&#10;O conteúdo gerado por IA pode estar incorreto.">
            <a:extLst>
              <a:ext uri="{FF2B5EF4-FFF2-40B4-BE49-F238E27FC236}">
                <a16:creationId xmlns:a16="http://schemas.microsoft.com/office/drawing/2014/main" id="{7AB79521-EBF6-7464-E2DA-77040CDA68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3200" y="-322497"/>
            <a:ext cx="2554514" cy="2517059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3301C382-98ED-E815-6120-B89092636066}"/>
              </a:ext>
            </a:extLst>
          </p:cNvPr>
          <p:cNvSpPr txBox="1"/>
          <p:nvPr/>
        </p:nvSpPr>
        <p:spPr>
          <a:xfrm>
            <a:off x="290287" y="3127593"/>
            <a:ext cx="638628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ea typeface="Verdana" panose="020B0604030504040204" pitchFamily="34" charset="0"/>
              </a:rPr>
              <a:t>1️⃣ </a:t>
            </a:r>
            <a:r>
              <a:rPr lang="pt-BR" b="1" dirty="0">
                <a:ea typeface="Verdana" panose="020B0604030504040204" pitchFamily="34" charset="0"/>
              </a:rPr>
              <a:t>MySQL na jornada do analista</a:t>
            </a:r>
            <a:r>
              <a:rPr lang="pt-BR" dirty="0">
                <a:ea typeface="Verdana" panose="020B0604030504040204" pitchFamily="34" charset="0"/>
              </a:rPr>
              <a:t> 🖥️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ea typeface="Verdana" panose="020B0604030504040204" pitchFamily="34" charset="0"/>
              </a:rPr>
              <a:t>Papel do MySQL na análise de dados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ea typeface="Verdana" panose="020B0604030504040204" pitchFamily="34" charset="0"/>
              </a:rPr>
              <a:t>Preparando o ambiente de treino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ea typeface="Verdana" panose="020B0604030504040204" pitchFamily="34" charset="0"/>
              </a:rPr>
              <a:t>Configurações iniciais essenciais</a:t>
            </a:r>
          </a:p>
          <a:p>
            <a:endParaRPr lang="pt-BR" dirty="0">
              <a:ea typeface="Verdana" panose="020B0604030504040204" pitchFamily="34" charset="0"/>
            </a:endParaRPr>
          </a:p>
          <a:p>
            <a:r>
              <a:rPr lang="pt-BR" dirty="0">
                <a:ea typeface="Verdana" panose="020B0604030504040204" pitchFamily="34" charset="0"/>
              </a:rPr>
              <a:t>2️⃣ </a:t>
            </a:r>
            <a:r>
              <a:rPr lang="pt-BR" b="1" dirty="0">
                <a:ea typeface="Verdana" panose="020B0604030504040204" pitchFamily="34" charset="0"/>
              </a:rPr>
              <a:t>Fundamentos para enxergar os dados</a:t>
            </a:r>
            <a:r>
              <a:rPr lang="pt-BR" dirty="0">
                <a:ea typeface="Verdana" panose="020B0604030504040204" pitchFamily="34" charset="0"/>
              </a:rPr>
              <a:t> 🔎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ea typeface="Verdana" panose="020B0604030504040204" pitchFamily="34" charset="0"/>
              </a:rPr>
              <a:t>SELECT, WHERE, ORDER BY, GROUP BY, HAVING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ea typeface="Verdana" panose="020B0604030504040204" pitchFamily="34" charset="0"/>
              </a:rPr>
              <a:t>Tipos de dados e impacto na análise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ea typeface="Verdana" panose="020B0604030504040204" pitchFamily="34" charset="0"/>
              </a:rPr>
              <a:t>Funções de agregação</a:t>
            </a:r>
          </a:p>
          <a:p>
            <a:endParaRPr lang="pt-BR" dirty="0">
              <a:ea typeface="Verdana" panose="020B0604030504040204" pitchFamily="34" charset="0"/>
            </a:endParaRPr>
          </a:p>
          <a:p>
            <a:r>
              <a:rPr lang="pt-BR" dirty="0">
                <a:ea typeface="Verdana" panose="020B0604030504040204" pitchFamily="34" charset="0"/>
              </a:rPr>
              <a:t>3️⃣ </a:t>
            </a:r>
            <a:r>
              <a:rPr lang="pt-BR" b="1" dirty="0">
                <a:ea typeface="Verdana" panose="020B0604030504040204" pitchFamily="34" charset="0"/>
              </a:rPr>
              <a:t>Primeiros insights</a:t>
            </a:r>
            <a:r>
              <a:rPr lang="pt-BR" dirty="0">
                <a:ea typeface="Verdana" panose="020B0604030504040204" pitchFamily="34" charset="0"/>
              </a:rPr>
              <a:t> 💡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ea typeface="Verdana" panose="020B0604030504040204" pitchFamily="34" charset="0"/>
              </a:rPr>
              <a:t>Filtragem avançada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ea typeface="Verdana" panose="020B0604030504040204" pitchFamily="34" charset="0"/>
              </a:rPr>
              <a:t>Agrupamento estratégico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ea typeface="Verdana" panose="020B0604030504040204" pitchFamily="34" charset="0"/>
              </a:rPr>
              <a:t>Boas práticas de queries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73C505F1-2DFF-D9ED-B38E-8FDC6C8BE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8936-71E3-40FB-908B-B2D43CF26F61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8229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FECEB-0AD4-E10D-D5FD-6D02B5039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8C2BB6C8-6062-7E19-3E77-325B671175B3}"/>
              </a:ext>
            </a:extLst>
          </p:cNvPr>
          <p:cNvSpPr txBox="1"/>
          <p:nvPr/>
        </p:nvSpPr>
        <p:spPr>
          <a:xfrm>
            <a:off x="0" y="2088703"/>
            <a:ext cx="6857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>
                <a:latin typeface="Trebuchet MS" panose="020B0603020202020204" pitchFamily="34" charset="0"/>
              </a:rPr>
              <a:t>🎯 </a:t>
            </a:r>
            <a:r>
              <a:rPr lang="pt-BR" sz="2000" b="1" dirty="0">
                <a:latin typeface="Trebuchet MS" panose="020B0603020202020204" pitchFamily="34" charset="0"/>
              </a:rPr>
              <a:t>Meta:</a:t>
            </a:r>
            <a:r>
              <a:rPr lang="pt-BR" sz="2000" dirty="0">
                <a:latin typeface="Trebuchet MS" panose="020B0603020202020204" pitchFamily="34" charset="0"/>
              </a:rPr>
              <a:t> Dominar técnicas de consultas poderosas para análises complexas.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687AC2C-FBCD-7B70-99CE-E422BEED5BB2}"/>
              </a:ext>
            </a:extLst>
          </p:cNvPr>
          <p:cNvSpPr txBox="1"/>
          <p:nvPr/>
        </p:nvSpPr>
        <p:spPr>
          <a:xfrm>
            <a:off x="2351313" y="254000"/>
            <a:ext cx="432525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latin typeface="Segoe UI Black" panose="020B0A02040204020203" pitchFamily="34" charset="0"/>
                <a:ea typeface="Segoe UI Black" panose="020B0A02040204020203" pitchFamily="34" charset="0"/>
              </a:rPr>
              <a:t>PARTE II</a:t>
            </a:r>
          </a:p>
          <a:p>
            <a:r>
              <a:rPr lang="pt-BR" sz="2800" b="1" dirty="0">
                <a:latin typeface="Segoe UI Black" panose="020B0A02040204020203" pitchFamily="34" charset="0"/>
                <a:ea typeface="Segoe UI Black" panose="020B0A02040204020203" pitchFamily="34" charset="0"/>
              </a:rPr>
              <a:t>Aprimorando a Visão</a:t>
            </a:r>
            <a:r>
              <a:rPr lang="pt-BR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pt-BR" sz="2800" i="1" dirty="0">
                <a:latin typeface="Segoe UI Black" panose="020B0A02040204020203" pitchFamily="34" charset="0"/>
                <a:ea typeface="Segoe UI Black" panose="020B0A02040204020203" pitchFamily="34" charset="0"/>
              </a:rPr>
              <a:t>(Consultas Avançadas)</a:t>
            </a:r>
            <a:endParaRPr lang="pt-BR" sz="28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6" name="Imagem 5" descr="Gráfico, Gráfico de explosão solar&#10;&#10;O conteúdo gerado por IA pode estar incorreto.">
            <a:extLst>
              <a:ext uri="{FF2B5EF4-FFF2-40B4-BE49-F238E27FC236}">
                <a16:creationId xmlns:a16="http://schemas.microsoft.com/office/drawing/2014/main" id="{2BD35F82-3E12-2401-FFBD-FA80DF9A31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3200" y="-322497"/>
            <a:ext cx="2554514" cy="2517059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DDB53DC0-67E1-FED1-E146-AAAC145202F4}"/>
              </a:ext>
            </a:extLst>
          </p:cNvPr>
          <p:cNvSpPr txBox="1"/>
          <p:nvPr/>
        </p:nvSpPr>
        <p:spPr>
          <a:xfrm>
            <a:off x="290287" y="3127593"/>
            <a:ext cx="6386284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ea typeface="Verdana" panose="020B0604030504040204" pitchFamily="34" charset="0"/>
              </a:rPr>
              <a:t>4️⃣ </a:t>
            </a:r>
            <a:r>
              <a:rPr lang="pt-BR" b="1" dirty="0" err="1">
                <a:ea typeface="Verdana" panose="020B0604030504040204" pitchFamily="34" charset="0"/>
              </a:rPr>
              <a:t>Joins</a:t>
            </a:r>
            <a:r>
              <a:rPr lang="pt-BR" b="1" dirty="0">
                <a:ea typeface="Verdana" panose="020B0604030504040204" pitchFamily="34" charset="0"/>
              </a:rPr>
              <a:t> e relacionamentos ocultos</a:t>
            </a:r>
            <a:r>
              <a:rPr lang="pt-BR" dirty="0">
                <a:ea typeface="Verdana" panose="020B0604030504040204" pitchFamily="34" charset="0"/>
              </a:rPr>
              <a:t> 🔗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ea typeface="Verdana" panose="020B0604030504040204" pitchFamily="34" charset="0"/>
              </a:rPr>
              <a:t>Tipos de </a:t>
            </a:r>
            <a:r>
              <a:rPr lang="pt-BR" dirty="0" err="1">
                <a:ea typeface="Verdana" panose="020B0604030504040204" pitchFamily="34" charset="0"/>
              </a:rPr>
              <a:t>joins</a:t>
            </a:r>
            <a:r>
              <a:rPr lang="pt-BR" dirty="0">
                <a:ea typeface="Verdana" panose="020B0604030504040204" pitchFamily="34" charset="0"/>
              </a:rPr>
              <a:t>: INNER, LEFT, RIGHT, CROSS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ea typeface="Verdana" panose="020B0604030504040204" pitchFamily="34" charset="0"/>
              </a:rPr>
              <a:t>Quando cada </a:t>
            </a:r>
            <a:r>
              <a:rPr lang="pt-BR" dirty="0" err="1">
                <a:ea typeface="Verdana" panose="020B0604030504040204" pitchFamily="34" charset="0"/>
              </a:rPr>
              <a:t>join</a:t>
            </a:r>
            <a:r>
              <a:rPr lang="pt-BR" dirty="0">
                <a:ea typeface="Verdana" panose="020B0604030504040204" pitchFamily="34" charset="0"/>
              </a:rPr>
              <a:t> é a melhor escolha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ea typeface="Verdana" panose="020B0604030504040204" pitchFamily="34" charset="0"/>
              </a:rPr>
              <a:t>Combinando múltiplos </a:t>
            </a:r>
            <a:r>
              <a:rPr lang="pt-BR" dirty="0" err="1">
                <a:ea typeface="Verdana" panose="020B0604030504040204" pitchFamily="34" charset="0"/>
              </a:rPr>
              <a:t>joins</a:t>
            </a:r>
            <a:endParaRPr lang="pt-BR" dirty="0"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ea typeface="Verdana" panose="020B0604030504040204" pitchFamily="34" charset="0"/>
              </a:rPr>
              <a:t>Tratando dados ausentes e duplicados</a:t>
            </a:r>
          </a:p>
          <a:p>
            <a:endParaRPr lang="pt-BR" dirty="0">
              <a:ea typeface="Verdana" panose="020B0604030504040204" pitchFamily="34" charset="0"/>
            </a:endParaRPr>
          </a:p>
          <a:p>
            <a:r>
              <a:rPr lang="pt-BR" dirty="0">
                <a:ea typeface="Verdana" panose="020B0604030504040204" pitchFamily="34" charset="0"/>
              </a:rPr>
              <a:t>5️⃣ </a:t>
            </a:r>
            <a:r>
              <a:rPr lang="pt-BR" b="1" dirty="0">
                <a:ea typeface="Verdana" panose="020B0604030504040204" pitchFamily="34" charset="0"/>
              </a:rPr>
              <a:t>Estratégias de consultas complexas</a:t>
            </a:r>
            <a:r>
              <a:rPr lang="pt-BR" dirty="0">
                <a:ea typeface="Verdana" panose="020B0604030504040204" pitchFamily="34" charset="0"/>
              </a:rPr>
              <a:t> 🧩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 err="1">
                <a:ea typeface="Verdana" panose="020B0604030504040204" pitchFamily="34" charset="0"/>
              </a:rPr>
              <a:t>Subqueries</a:t>
            </a:r>
            <a:r>
              <a:rPr lang="pt-BR" dirty="0">
                <a:ea typeface="Verdana" panose="020B0604030504040204" pitchFamily="34" charset="0"/>
              </a:rPr>
              <a:t> avançadas e aninhadas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ea typeface="Verdana" panose="020B0604030504040204" pitchFamily="34" charset="0"/>
              </a:rPr>
              <a:t>Uso de CTE (Common </a:t>
            </a:r>
            <a:r>
              <a:rPr lang="pt-BR" dirty="0" err="1">
                <a:ea typeface="Verdana" panose="020B0604030504040204" pitchFamily="34" charset="0"/>
              </a:rPr>
              <a:t>Table</a:t>
            </a:r>
            <a:r>
              <a:rPr lang="pt-BR" dirty="0">
                <a:ea typeface="Verdana" panose="020B0604030504040204" pitchFamily="34" charset="0"/>
              </a:rPr>
              <a:t> </a:t>
            </a:r>
            <a:r>
              <a:rPr lang="pt-BR" dirty="0" err="1">
                <a:ea typeface="Verdana" panose="020B0604030504040204" pitchFamily="34" charset="0"/>
              </a:rPr>
              <a:t>Expressions</a:t>
            </a:r>
            <a:r>
              <a:rPr lang="pt-BR" dirty="0">
                <a:ea typeface="Verdana" panose="020B0604030504040204" pitchFamily="34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ea typeface="Verdana" panose="020B0604030504040204" pitchFamily="34" charset="0"/>
              </a:rPr>
              <a:t>UNION e UNION ALL na prática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ea typeface="Verdana" panose="020B0604030504040204" pitchFamily="34" charset="0"/>
              </a:rPr>
              <a:t>Criando consultas reutilizáveis</a:t>
            </a:r>
          </a:p>
          <a:p>
            <a:endParaRPr lang="pt-BR" dirty="0">
              <a:ea typeface="Verdana" panose="020B0604030504040204" pitchFamily="34" charset="0"/>
            </a:endParaRPr>
          </a:p>
          <a:p>
            <a:r>
              <a:rPr lang="pt-BR" dirty="0">
                <a:ea typeface="Verdana" panose="020B0604030504040204" pitchFamily="34" charset="0"/>
              </a:rPr>
              <a:t>6️⃣ </a:t>
            </a:r>
            <a:r>
              <a:rPr lang="pt-BR" b="1" dirty="0">
                <a:ea typeface="Verdana" panose="020B0604030504040204" pitchFamily="34" charset="0"/>
              </a:rPr>
              <a:t>Manipulação e transformação de dados</a:t>
            </a:r>
            <a:r>
              <a:rPr lang="pt-BR" dirty="0">
                <a:ea typeface="Verdana" panose="020B0604030504040204" pitchFamily="34" charset="0"/>
              </a:rPr>
              <a:t> 🔧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ea typeface="Verdana" panose="020B0604030504040204" pitchFamily="34" charset="0"/>
              </a:rPr>
              <a:t>Funções de texto (SUBSTRING, REPLACE, REGEXP)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ea typeface="Verdana" panose="020B0604030504040204" pitchFamily="34" charset="0"/>
              </a:rPr>
              <a:t>Funções de data e hora (DATE_FORMAT, TIMESTAMPDIFF, EXTRACT)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ea typeface="Verdana" panose="020B0604030504040204" pitchFamily="34" charset="0"/>
              </a:rPr>
              <a:t>Condições dinâmicas com CASE e IF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ea typeface="Verdana" panose="020B0604030504040204" pitchFamily="34" charset="0"/>
              </a:rPr>
              <a:t>Trabalhando com dados JSON no MySQL</a:t>
            </a:r>
          </a:p>
          <a:p>
            <a:endParaRPr lang="pt-BR" dirty="0">
              <a:ea typeface="Verdana" panose="020B0604030504040204" pitchFamily="34" charset="0"/>
            </a:endParaRPr>
          </a:p>
          <a:p>
            <a:r>
              <a:rPr lang="pt-BR" dirty="0">
                <a:ea typeface="Verdana" panose="020B0604030504040204" pitchFamily="34" charset="0"/>
              </a:rPr>
              <a:t>7️⃣ </a:t>
            </a:r>
            <a:r>
              <a:rPr lang="pt-BR" b="1" dirty="0">
                <a:ea typeface="Verdana" panose="020B0604030504040204" pitchFamily="34" charset="0"/>
              </a:rPr>
              <a:t>Otimização para análise</a:t>
            </a:r>
            <a:r>
              <a:rPr lang="pt-BR" dirty="0">
                <a:ea typeface="Verdana" panose="020B0604030504040204" pitchFamily="34" charset="0"/>
              </a:rPr>
              <a:t> 🚀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ea typeface="Verdana" panose="020B0604030504040204" pitchFamily="34" charset="0"/>
              </a:rPr>
              <a:t>Quando e como criar índices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ea typeface="Verdana" panose="020B0604030504040204" pitchFamily="34" charset="0"/>
              </a:rPr>
              <a:t>Interpretando o EXPLAIN para reduzir custo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ea typeface="Verdana" panose="020B0604030504040204" pitchFamily="34" charset="0"/>
              </a:rPr>
              <a:t>Particionamento de tabelas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ea typeface="Verdana" panose="020B0604030504040204" pitchFamily="34" charset="0"/>
              </a:rPr>
              <a:t>Estratégias para reduzir carga no servidor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2F4CF881-F336-3099-6D79-2F5C010FD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8936-71E3-40FB-908B-B2D43CF26F61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4101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0447A-8BD1-E111-D0D2-DE77D33D6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32CF456-B707-AC81-283B-BAD7BDD3BAD1}"/>
              </a:ext>
            </a:extLst>
          </p:cNvPr>
          <p:cNvSpPr txBox="1"/>
          <p:nvPr/>
        </p:nvSpPr>
        <p:spPr>
          <a:xfrm>
            <a:off x="0" y="2088703"/>
            <a:ext cx="6857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>
                <a:latin typeface="Trebuchet MS" panose="020B0603020202020204" pitchFamily="34" charset="0"/>
              </a:rPr>
              <a:t>🎯 </a:t>
            </a:r>
            <a:r>
              <a:rPr lang="pt-BR" sz="2000" b="1" dirty="0">
                <a:latin typeface="Trebuchet MS" panose="020B0603020202020204" pitchFamily="34" charset="0"/>
              </a:rPr>
              <a:t>Meta:</a:t>
            </a:r>
            <a:r>
              <a:rPr lang="pt-BR" sz="2000" dirty="0">
                <a:latin typeface="Trebuchet MS" panose="020B0603020202020204" pitchFamily="34" charset="0"/>
              </a:rPr>
              <a:t> Usar o MySQL como verdadeira ferramenta de inteligência de dados.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8872DFE-3F31-6FA9-CCA3-67FFFA6273CD}"/>
              </a:ext>
            </a:extLst>
          </p:cNvPr>
          <p:cNvSpPr txBox="1"/>
          <p:nvPr/>
        </p:nvSpPr>
        <p:spPr>
          <a:xfrm>
            <a:off x="2351313" y="254000"/>
            <a:ext cx="432525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latin typeface="Segoe UI Black" panose="020B0A02040204020203" pitchFamily="34" charset="0"/>
                <a:ea typeface="Segoe UI Black" panose="020B0A02040204020203" pitchFamily="34" charset="0"/>
              </a:rPr>
              <a:t>PARTE III</a:t>
            </a:r>
          </a:p>
          <a:p>
            <a:r>
              <a:rPr lang="pt-BR" sz="2800" b="1" dirty="0">
                <a:latin typeface="Segoe UI Black" panose="020B0A02040204020203" pitchFamily="34" charset="0"/>
                <a:ea typeface="Segoe UI Black" panose="020B0A02040204020203" pitchFamily="34" charset="0"/>
              </a:rPr>
              <a:t>Olho Desperto</a:t>
            </a:r>
            <a:r>
              <a:rPr lang="pt-BR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</a:p>
          <a:p>
            <a:r>
              <a:rPr lang="pt-BR" sz="2800" i="1" dirty="0">
                <a:latin typeface="Segoe UI Black" panose="020B0A02040204020203" pitchFamily="34" charset="0"/>
                <a:ea typeface="Segoe UI Black" panose="020B0A02040204020203" pitchFamily="34" charset="0"/>
              </a:rPr>
              <a:t>(Poder Oculto)</a:t>
            </a:r>
            <a:endParaRPr lang="pt-BR" sz="28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6" name="Imagem 5" descr="Gráfico, Gráfico de explosão solar&#10;&#10;O conteúdo gerado por IA pode estar incorreto.">
            <a:extLst>
              <a:ext uri="{FF2B5EF4-FFF2-40B4-BE49-F238E27FC236}">
                <a16:creationId xmlns:a16="http://schemas.microsoft.com/office/drawing/2014/main" id="{691A7522-D199-1091-3401-EFECC4122D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3200" y="-322497"/>
            <a:ext cx="2554514" cy="2517059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04FEE099-C813-7323-04A4-78DBC8C9BAE3}"/>
              </a:ext>
            </a:extLst>
          </p:cNvPr>
          <p:cNvSpPr txBox="1"/>
          <p:nvPr/>
        </p:nvSpPr>
        <p:spPr>
          <a:xfrm>
            <a:off x="290287" y="3127593"/>
            <a:ext cx="6386284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8️⃣ </a:t>
            </a:r>
            <a:r>
              <a:rPr lang="pt-BR" b="1" dirty="0"/>
              <a:t>Análise estatística dentro do MySQL</a:t>
            </a:r>
            <a:r>
              <a:rPr lang="pt-BR" dirty="0"/>
              <a:t> 📈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Calculando percentis e mediana sem função nativa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Obtendo moda de forma eficiente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Rankings e classificações com funções de janela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Comparações entre períodos e tendências</a:t>
            </a:r>
          </a:p>
          <a:p>
            <a:endParaRPr lang="pt-BR" dirty="0"/>
          </a:p>
          <a:p>
            <a:r>
              <a:rPr lang="pt-BR" dirty="0"/>
              <a:t>9️⃣ </a:t>
            </a:r>
            <a:r>
              <a:rPr lang="pt-BR" b="1" dirty="0"/>
              <a:t>Transformando dados em inteligência</a:t>
            </a:r>
            <a:r>
              <a:rPr lang="pt-BR" dirty="0"/>
              <a:t> 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Criando tabelas dinâmicas (</a:t>
            </a:r>
            <a:r>
              <a:rPr lang="pt-BR" dirty="0" err="1"/>
              <a:t>pivot</a:t>
            </a:r>
            <a:r>
              <a:rPr lang="pt-BR" dirty="0"/>
              <a:t> </a:t>
            </a:r>
            <a:r>
              <a:rPr lang="pt-BR" dirty="0" err="1"/>
              <a:t>tables</a:t>
            </a:r>
            <a:r>
              <a:rPr lang="pt-BR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Detectando padrões e sazonalidades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Identificando anomalias e outliers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Combinando dados de múltiplas fontes</a:t>
            </a:r>
          </a:p>
          <a:p>
            <a:endParaRPr lang="pt-BR" dirty="0"/>
          </a:p>
          <a:p>
            <a:r>
              <a:rPr lang="pt-BR" dirty="0"/>
              <a:t>🔟 </a:t>
            </a:r>
            <a:r>
              <a:rPr lang="pt-BR" b="1" dirty="0"/>
              <a:t>Automatização e integração</a:t>
            </a:r>
            <a:r>
              <a:rPr lang="pt-BR" dirty="0"/>
              <a:t> ⚙️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Criando </a:t>
            </a:r>
            <a:r>
              <a:rPr lang="pt-BR" dirty="0" err="1"/>
              <a:t>Views</a:t>
            </a:r>
            <a:r>
              <a:rPr lang="pt-BR" dirty="0"/>
              <a:t> para relatórios prontos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Procedures para análises automáticas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Agendamento de tarefas com eventos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Exportando dados para Excel, Power BI e Python</a:t>
            </a:r>
          </a:p>
          <a:p>
            <a:endParaRPr lang="pt-BR" dirty="0"/>
          </a:p>
          <a:p>
            <a:r>
              <a:rPr lang="pt-BR" dirty="0"/>
              <a:t>1️⃣1️⃣ </a:t>
            </a:r>
            <a:r>
              <a:rPr lang="pt-BR" b="1" dirty="0"/>
              <a:t>Segredos de performance do analista</a:t>
            </a:r>
            <a:r>
              <a:rPr lang="pt-BR" dirty="0"/>
              <a:t> ⚡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Ajustes no </a:t>
            </a:r>
            <a:r>
              <a:rPr lang="pt-BR" dirty="0" err="1"/>
              <a:t>my.cnf</a:t>
            </a:r>
            <a:r>
              <a:rPr lang="pt-BR" dirty="0"/>
              <a:t> para consultas analíticas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Uso eficiente do cache de consultas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Técnicas de </a:t>
            </a:r>
            <a:r>
              <a:rPr lang="pt-BR" dirty="0" err="1"/>
              <a:t>pré</a:t>
            </a:r>
            <a:r>
              <a:rPr lang="pt-BR" dirty="0"/>
              <a:t>-agrupamento e </a:t>
            </a:r>
            <a:r>
              <a:rPr lang="pt-BR" dirty="0" err="1"/>
              <a:t>pré</a:t>
            </a:r>
            <a:r>
              <a:rPr lang="pt-BR" dirty="0"/>
              <a:t>-cálculo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Estratégias para milhões de registros</a:t>
            </a:r>
          </a:p>
          <a:p>
            <a:endParaRPr lang="pt-BR" dirty="0"/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05EAF6C4-E63C-AF8F-1D2F-773865586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8936-71E3-40FB-908B-B2D43CF26F61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123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43D3C-5C36-168D-B61F-6E21E4081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0ADB9F17-C235-E3B3-8030-DBC8BB4B3E9B}"/>
              </a:ext>
            </a:extLst>
          </p:cNvPr>
          <p:cNvSpPr txBox="1"/>
          <p:nvPr/>
        </p:nvSpPr>
        <p:spPr>
          <a:xfrm>
            <a:off x="0" y="2088703"/>
            <a:ext cx="6857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>
                <a:latin typeface="Trebuchet MS" panose="020B0603020202020204" pitchFamily="34" charset="0"/>
              </a:rPr>
              <a:t>🎯 Meta: Aplicar todo o conhecimento adquirido em cenários reais e se tornar um analista de elite.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C3762AF-AAFD-BC4D-A215-8A1754271A91}"/>
              </a:ext>
            </a:extLst>
          </p:cNvPr>
          <p:cNvSpPr txBox="1"/>
          <p:nvPr/>
        </p:nvSpPr>
        <p:spPr>
          <a:xfrm>
            <a:off x="2351313" y="254000"/>
            <a:ext cx="432525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latin typeface="Segoe UI Black" panose="020B0A02040204020203" pitchFamily="34" charset="0"/>
                <a:ea typeface="Segoe UI Black" panose="020B0A02040204020203" pitchFamily="34" charset="0"/>
              </a:rPr>
              <a:t>PARTE IV </a:t>
            </a:r>
          </a:p>
          <a:p>
            <a:r>
              <a:rPr lang="pt-BR" sz="2800" b="1" dirty="0">
                <a:latin typeface="Segoe UI Black" panose="020B0A02040204020203" pitchFamily="34" charset="0"/>
                <a:ea typeface="Segoe UI Black" panose="020B0A02040204020203" pitchFamily="34" charset="0"/>
              </a:rPr>
              <a:t>Mestre dos Dados </a:t>
            </a:r>
            <a:r>
              <a:rPr lang="pt-BR" sz="2800" b="1" i="1" dirty="0">
                <a:latin typeface="Segoe UI Black" panose="020B0A02040204020203" pitchFamily="34" charset="0"/>
                <a:ea typeface="Segoe UI Black" panose="020B0A02040204020203" pitchFamily="34" charset="0"/>
              </a:rPr>
              <a:t>(Nível Supremo)</a:t>
            </a:r>
            <a:endParaRPr lang="pt-BR" sz="2800" i="1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6" name="Imagem 5" descr="Gráfico, Gráfico de explosão solar&#10;&#10;O conteúdo gerado por IA pode estar incorreto.">
            <a:extLst>
              <a:ext uri="{FF2B5EF4-FFF2-40B4-BE49-F238E27FC236}">
                <a16:creationId xmlns:a16="http://schemas.microsoft.com/office/drawing/2014/main" id="{06FCC6D0-4FD9-A670-F862-A88770A265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3200" y="-322497"/>
            <a:ext cx="2554514" cy="2517059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E09CE155-8BD7-F11A-9BCF-4844B3E5775D}"/>
              </a:ext>
            </a:extLst>
          </p:cNvPr>
          <p:cNvSpPr txBox="1"/>
          <p:nvPr/>
        </p:nvSpPr>
        <p:spPr>
          <a:xfrm>
            <a:off x="290287" y="3127593"/>
            <a:ext cx="638628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1️⃣2️⃣ </a:t>
            </a:r>
            <a:r>
              <a:rPr lang="pt-BR" b="1" dirty="0"/>
              <a:t>Estudos de caso do mundo real</a:t>
            </a:r>
            <a:r>
              <a:rPr lang="pt-BR" dirty="0"/>
              <a:t> 🌍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Como reduzir uma consulta de 2 minutos para 3 segundos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Criando relatórios mensais em uma única query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Integração de dados heterogêneos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Resolução de gargalos de performance</a:t>
            </a:r>
          </a:p>
          <a:p>
            <a:endParaRPr lang="pt-BR" dirty="0"/>
          </a:p>
          <a:p>
            <a:r>
              <a:rPr lang="pt-BR" dirty="0"/>
              <a:t>1️⃣3️⃣ </a:t>
            </a:r>
            <a:r>
              <a:rPr lang="pt-BR" b="1" dirty="0"/>
              <a:t>Desafios finais do Olho do Analista</a:t>
            </a:r>
            <a:r>
              <a:rPr lang="pt-BR" dirty="0"/>
              <a:t> 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Exercícios práticos com </a:t>
            </a:r>
            <a:r>
              <a:rPr lang="pt-BR" dirty="0" err="1"/>
              <a:t>datasets</a:t>
            </a:r>
            <a:r>
              <a:rPr lang="pt-BR" dirty="0"/>
              <a:t> reais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Problemas propostos para múltiplos níveis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Checklist de habilidades adquiridas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Autoavaliação para medir evolução</a:t>
            </a:r>
          </a:p>
          <a:p>
            <a:endParaRPr lang="pt-BR" dirty="0"/>
          </a:p>
          <a:p>
            <a:r>
              <a:rPr lang="pt-BR" dirty="0"/>
              <a:t>1️⃣4️⃣ </a:t>
            </a:r>
            <a:r>
              <a:rPr lang="pt-BR" b="1" dirty="0"/>
              <a:t>Conclusão e próximos passos</a:t>
            </a:r>
            <a:r>
              <a:rPr lang="pt-BR" dirty="0"/>
              <a:t> 🔮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Mentalidade de melhoria contínua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Caminhos para especialização avançada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Comunidades e recursos para networking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Como manter o “Olho do Analista” sempre ativo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55EB086F-262A-6946-B737-9C03C133D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8936-71E3-40FB-908B-B2D43CF26F61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853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055E7-D9A4-F27D-F953-550180392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9B23E91-CD5A-9701-9FA3-E35759551FC1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gradFill flip="none" rotWithShape="1">
            <a:gsLst>
              <a:gs pos="77000">
                <a:srgbClr val="000008"/>
              </a:gs>
              <a:gs pos="100000">
                <a:srgbClr val="7499AB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itulo">
            <a:extLst>
              <a:ext uri="{FF2B5EF4-FFF2-40B4-BE49-F238E27FC236}">
                <a16:creationId xmlns:a16="http://schemas.microsoft.com/office/drawing/2014/main" id="{D2610F2B-278F-C7B4-6048-D475ED0C5BFB}"/>
              </a:ext>
            </a:extLst>
          </p:cNvPr>
          <p:cNvSpPr txBox="1"/>
          <p:nvPr/>
        </p:nvSpPr>
        <p:spPr>
          <a:xfrm>
            <a:off x="0" y="3531493"/>
            <a:ext cx="6858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bg1"/>
                </a:solidFill>
                <a:effectLst>
                  <a:glow rad="609600">
                    <a:srgbClr val="7499AB">
                      <a:alpha val="54000"/>
                    </a:srgbClr>
                  </a:glo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Biome" panose="020B0502040204020203" pitchFamily="34" charset="0"/>
              </a:rPr>
              <a:t>PARTE I</a:t>
            </a:r>
          </a:p>
          <a:p>
            <a:pPr algn="ctr"/>
            <a:r>
              <a:rPr lang="pt-BR" sz="4400" b="1" dirty="0">
                <a:solidFill>
                  <a:schemeClr val="bg1"/>
                </a:solidFill>
                <a:effectLst>
                  <a:glow rad="609600">
                    <a:srgbClr val="7499AB">
                      <a:alpha val="54000"/>
                    </a:srgbClr>
                  </a:glo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Biome" panose="020B0502040204020203" pitchFamily="34" charset="0"/>
              </a:rPr>
              <a:t>Despertando o Olho </a:t>
            </a:r>
          </a:p>
          <a:p>
            <a:pPr algn="ctr"/>
            <a:r>
              <a:rPr lang="pt-BR" sz="4400" b="1" dirty="0">
                <a:solidFill>
                  <a:schemeClr val="bg1"/>
                </a:solidFill>
                <a:effectLst>
                  <a:glow rad="609600">
                    <a:srgbClr val="7499AB">
                      <a:alpha val="54000"/>
                    </a:srgbClr>
                  </a:glo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Biome" panose="020B0502040204020203" pitchFamily="34" charset="0"/>
              </a:rPr>
              <a:t>(Fundamentos)</a:t>
            </a: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5EC7669D-A795-1ED5-8CDA-CF3F4D103C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25054256-4845-9D22-629A-36557608E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685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18" name="Imagem 17" descr="Gráfico, Gráfico de explosão solar&#10;&#10;O conteúdo gerado por IA pode estar incorreto.">
            <a:extLst>
              <a:ext uri="{FF2B5EF4-FFF2-40B4-BE49-F238E27FC236}">
                <a16:creationId xmlns:a16="http://schemas.microsoft.com/office/drawing/2014/main" id="{3019DF66-7E28-0BD3-1C32-D41C344859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3686" y="-432170"/>
            <a:ext cx="4252686" cy="3555155"/>
          </a:xfrm>
          <a:prstGeom prst="rect">
            <a:avLst/>
          </a:prstGeom>
        </p:spPr>
      </p:pic>
      <p:pic>
        <p:nvPicPr>
          <p:cNvPr id="19" name="Imagem 18" descr="Gráfico, Gráfico de explosão solar&#10;&#10;O conteúdo gerado por IA pode estar incorreto.">
            <a:extLst>
              <a:ext uri="{FF2B5EF4-FFF2-40B4-BE49-F238E27FC236}">
                <a16:creationId xmlns:a16="http://schemas.microsoft.com/office/drawing/2014/main" id="{874C1163-7956-334F-4A04-089C3CB622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4513" y="6531663"/>
            <a:ext cx="2344057" cy="1959582"/>
          </a:xfrm>
          <a:prstGeom prst="rect">
            <a:avLst/>
          </a:prstGeom>
        </p:spPr>
      </p:pic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9B11A589-572E-157E-55F3-886D1E5E7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8936-71E3-40FB-908B-B2D43CF26F61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5434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ED386-8661-8843-D3E1-92872AC2F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1F622CE-AFD3-B545-58B8-F43248A5E9CE}"/>
              </a:ext>
            </a:extLst>
          </p:cNvPr>
          <p:cNvSpPr txBox="1"/>
          <p:nvPr/>
        </p:nvSpPr>
        <p:spPr>
          <a:xfrm>
            <a:off x="420914" y="2994075"/>
            <a:ext cx="6125028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MySQL não é apenas um banco de dados relacional para armazenar informações.</a:t>
            </a:r>
          </a:p>
          <a:p>
            <a:br>
              <a:rPr lang="pt-BR" dirty="0"/>
            </a:br>
            <a:r>
              <a:rPr lang="pt-BR" dirty="0"/>
              <a:t>Quando bem utilizado, ele se torna uma ferramenta poderosa para </a:t>
            </a:r>
            <a:r>
              <a:rPr lang="pt-BR" b="1" dirty="0"/>
              <a:t>extrair, transformar e analisar dados diretamente</a:t>
            </a:r>
            <a:r>
              <a:rPr lang="pt-BR" dirty="0"/>
              <a:t>, muitas vezes reduzindo a necessidade de processamentos externos antes de chegar a conclusões úteis.</a:t>
            </a:r>
          </a:p>
          <a:p>
            <a:endParaRPr lang="pt-BR" dirty="0"/>
          </a:p>
          <a:p>
            <a:pPr marL="342900" indent="-342900">
              <a:buAutoNum type="arabicPeriod"/>
            </a:pPr>
            <a:r>
              <a:rPr lang="pt-BR" b="1" dirty="0"/>
              <a:t>Por que usar o MySQL para análise?</a:t>
            </a:r>
          </a:p>
          <a:p>
            <a:endParaRPr lang="pt-B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Rapidez:</a:t>
            </a:r>
            <a:r>
              <a:rPr lang="pt-BR" dirty="0"/>
              <a:t> O MySQL é otimizado para consultas complexas com grandes volumes de dados, desde que você use índices e boas práticas.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Escalabilidade:</a:t>
            </a:r>
            <a:r>
              <a:rPr lang="pt-BR" dirty="0"/>
              <a:t> Pode lidar tanto com tabelas pequenas de relatórios internos quanto com milhões de registros para análise avançada.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Integração:</a:t>
            </a:r>
            <a:r>
              <a:rPr lang="pt-BR" dirty="0"/>
              <a:t> Facilmente conectado a ferramentas como Power BI, Tableau, Python (Pandas) e R, servindo como fonte confiável para análises.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Pré-processamento:</a:t>
            </a:r>
            <a:r>
              <a:rPr lang="pt-BR" dirty="0"/>
              <a:t> Permite fazer filtragens, agregações e cálculos antes de exportar os dados para ferramentas externas.</a:t>
            </a:r>
          </a:p>
          <a:p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65BCBC3-C74C-F00D-01FF-B66CCC7A5E9D}"/>
              </a:ext>
            </a:extLst>
          </p:cNvPr>
          <p:cNvSpPr txBox="1"/>
          <p:nvPr/>
        </p:nvSpPr>
        <p:spPr>
          <a:xfrm>
            <a:off x="420913" y="2172791"/>
            <a:ext cx="61250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latin typeface="Trebuchet MS" panose="020B0603020202020204" pitchFamily="34" charset="0"/>
              </a:rPr>
              <a:t>Papel do MySQL na análise de dados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8304DDA-ACFE-52D2-84E4-05306145BD47}"/>
              </a:ext>
            </a:extLst>
          </p:cNvPr>
          <p:cNvSpPr txBox="1"/>
          <p:nvPr/>
        </p:nvSpPr>
        <p:spPr>
          <a:xfrm>
            <a:off x="2452914" y="197200"/>
            <a:ext cx="42526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latin typeface="Segoe UI Black" panose="020B0A02040204020203" pitchFamily="34" charset="0"/>
                <a:ea typeface="Segoe UI Black" panose="020B0A02040204020203" pitchFamily="34" charset="0"/>
              </a:rPr>
              <a:t>MYSQL NA JORNADA DO </a:t>
            </a:r>
            <a:r>
              <a:rPr lang="pt-BR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ANALISTA</a:t>
            </a:r>
            <a:r>
              <a:rPr lang="pt-BR" sz="32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</a:p>
        </p:txBody>
      </p:sp>
      <p:pic>
        <p:nvPicPr>
          <p:cNvPr id="6" name="Imagem 5" descr="Gráfico, Gráfico de explosão solar&#10;&#10;O conteúdo gerado por IA pode estar incorreto.">
            <a:extLst>
              <a:ext uri="{FF2B5EF4-FFF2-40B4-BE49-F238E27FC236}">
                <a16:creationId xmlns:a16="http://schemas.microsoft.com/office/drawing/2014/main" id="{FCB9CD20-94D9-240F-304D-87CF8E6290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3200" y="-322497"/>
            <a:ext cx="2554514" cy="2517059"/>
          </a:xfrm>
          <a:prstGeom prst="rect">
            <a:avLst/>
          </a:prstGeom>
        </p:spPr>
      </p:pic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C6E6477-48EC-E8F6-0C69-ED3E85CAE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8936-71E3-40FB-908B-B2D43CF26F61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0730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9B1F9-B502-7226-30AB-413115F34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2C87376-77F9-D089-FBCB-652F6F4B66D6}"/>
              </a:ext>
            </a:extLst>
          </p:cNvPr>
          <p:cNvSpPr txBox="1"/>
          <p:nvPr/>
        </p:nvSpPr>
        <p:spPr>
          <a:xfrm>
            <a:off x="420914" y="2994075"/>
            <a:ext cx="6125028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2. Papel estratégico do MySQL na análise de dados</a:t>
            </a:r>
          </a:p>
          <a:p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 err="1"/>
              <a:t>Pré-filtragem</a:t>
            </a:r>
            <a:r>
              <a:rPr lang="pt-BR" b="1" dirty="0"/>
              <a:t>:</a:t>
            </a:r>
            <a:r>
              <a:rPr lang="pt-BR" dirty="0"/>
              <a:t> Evita exportar dados irrelevantes para ferramentas de BI.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Redução de custo computacional:</a:t>
            </a:r>
            <a:r>
              <a:rPr lang="pt-BR" dirty="0"/>
              <a:t> Processar parte das análises no banco diminui a carga sobre sistemas externos.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Automação de relatórios:</a:t>
            </a:r>
            <a:r>
              <a:rPr lang="pt-BR" dirty="0"/>
              <a:t> Com </a:t>
            </a:r>
            <a:r>
              <a:rPr lang="pt-BR" dirty="0" err="1"/>
              <a:t>VIEWs</a:t>
            </a:r>
            <a:r>
              <a:rPr lang="pt-BR" dirty="0"/>
              <a:t> e </a:t>
            </a:r>
            <a:r>
              <a:rPr lang="pt-BR" dirty="0" err="1"/>
              <a:t>PROCEDUREs</a:t>
            </a:r>
            <a:r>
              <a:rPr lang="pt-BR" dirty="0"/>
              <a:t>, é possível criar consultas prontas para execução periódica.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Segurança e governança:</a:t>
            </a:r>
            <a:r>
              <a:rPr lang="pt-BR" dirty="0"/>
              <a:t> Controle de permissões garante que apenas usuários autorizados acessem dados sensíveis.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r>
              <a:rPr lang="pt-BR" b="1" dirty="0"/>
              <a:t>Em Resumo:</a:t>
            </a:r>
          </a:p>
          <a:p>
            <a:endParaRPr lang="pt-BR" dirty="0"/>
          </a:p>
          <a:p>
            <a:r>
              <a:rPr lang="pt-BR" dirty="0"/>
              <a:t>O MySQL vai muito além do papel de “guardar dados”. Ele pode e deve ser usado como uma primeira camada de análise, transformando dados brutos em informações já estruturadas para tomada de decisão.</a:t>
            </a:r>
          </a:p>
          <a:p>
            <a:endParaRPr lang="pt-BR" dirty="0"/>
          </a:p>
          <a:p>
            <a:r>
              <a:rPr lang="pt-BR" dirty="0"/>
              <a:t>Quando aliado a boas práticas de modelagem e otimização, ele se torna um verdadeiro motor de inteligência de negócios.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A7A54B6-4612-7A9D-962B-837D1E184341}"/>
              </a:ext>
            </a:extLst>
          </p:cNvPr>
          <p:cNvSpPr txBox="1"/>
          <p:nvPr/>
        </p:nvSpPr>
        <p:spPr>
          <a:xfrm>
            <a:off x="420913" y="2172791"/>
            <a:ext cx="61250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latin typeface="Trebuchet MS" panose="020B0603020202020204" pitchFamily="34" charset="0"/>
              </a:rPr>
              <a:t>Papel do MySQL na análise de dados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2B43D31-25C7-5B43-7E9D-C03BE4EB9653}"/>
              </a:ext>
            </a:extLst>
          </p:cNvPr>
          <p:cNvSpPr txBox="1"/>
          <p:nvPr/>
        </p:nvSpPr>
        <p:spPr>
          <a:xfrm>
            <a:off x="2452914" y="197200"/>
            <a:ext cx="42526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latin typeface="Segoe UI Black" panose="020B0A02040204020203" pitchFamily="34" charset="0"/>
                <a:ea typeface="Segoe UI Black" panose="020B0A02040204020203" pitchFamily="34" charset="0"/>
              </a:rPr>
              <a:t>MYSQL NA JORNADA DO </a:t>
            </a:r>
            <a:r>
              <a:rPr lang="pt-BR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ANALISTA</a:t>
            </a:r>
            <a:r>
              <a:rPr lang="pt-BR" sz="32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</a:p>
        </p:txBody>
      </p:sp>
      <p:pic>
        <p:nvPicPr>
          <p:cNvPr id="6" name="Imagem 5" descr="Gráfico, Gráfico de explosão solar&#10;&#10;O conteúdo gerado por IA pode estar incorreto.">
            <a:extLst>
              <a:ext uri="{FF2B5EF4-FFF2-40B4-BE49-F238E27FC236}">
                <a16:creationId xmlns:a16="http://schemas.microsoft.com/office/drawing/2014/main" id="{2EFB4A50-7341-C0C4-7DE6-4A3B7DC822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3200" y="-322497"/>
            <a:ext cx="2554514" cy="2517059"/>
          </a:xfrm>
          <a:prstGeom prst="rect">
            <a:avLst/>
          </a:prstGeom>
        </p:spPr>
      </p:pic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866C7C3-EA6A-8DC6-9FDD-35471DFCF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8936-71E3-40FB-908B-B2D43CF26F61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4902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F8235-BEE6-0F57-725B-7BA2149D9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5E97BB1-D661-528C-79F1-E77681C2A371}"/>
              </a:ext>
            </a:extLst>
          </p:cNvPr>
          <p:cNvSpPr txBox="1"/>
          <p:nvPr/>
        </p:nvSpPr>
        <p:spPr>
          <a:xfrm>
            <a:off x="420914" y="2994075"/>
            <a:ext cx="6125028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pt-BR" b="1" dirty="0"/>
              <a:t>Escolhendo Onde Treinar</a:t>
            </a:r>
          </a:p>
          <a:p>
            <a:pPr marL="342900" indent="-342900">
              <a:buAutoNum type="arabicPeriod"/>
            </a:pPr>
            <a:endParaRPr lang="pt-BR" b="1" dirty="0"/>
          </a:p>
          <a:p>
            <a:r>
              <a:rPr lang="pt-BR" dirty="0"/>
              <a:t>Você tem três opções principais:</a:t>
            </a:r>
          </a:p>
          <a:p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Instalar o MySQL localmente:</a:t>
            </a:r>
            <a:r>
              <a:rPr lang="pt-BR" dirty="0"/>
              <a:t> Ideal para quem quer ter controle total do ambiente e poder testar mesmo sem internet.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Usar um container Docker:</a:t>
            </a:r>
            <a:r>
              <a:rPr lang="pt-BR" dirty="0"/>
              <a:t> Excelente para quem quer isolar o ambiente e evitar “poluir” o sistema com instalações diretas.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Utilizar um serviço online:</a:t>
            </a:r>
            <a:r>
              <a:rPr lang="pt-BR" dirty="0"/>
              <a:t> Sites como </a:t>
            </a:r>
            <a:r>
              <a:rPr lang="pt-BR" dirty="0">
                <a:hlinkClick r:id="rId2"/>
              </a:rPr>
              <a:t>db-fiddle.com</a:t>
            </a:r>
            <a:r>
              <a:rPr lang="pt-BR" dirty="0"/>
              <a:t> ou </a:t>
            </a:r>
            <a:r>
              <a:rPr lang="pt-BR" dirty="0">
                <a:hlinkClick r:id="rId3"/>
              </a:rPr>
              <a:t>SQL </a:t>
            </a:r>
            <a:r>
              <a:rPr lang="pt-BR" dirty="0" err="1">
                <a:hlinkClick r:id="rId3"/>
              </a:rPr>
              <a:t>Fiddle</a:t>
            </a:r>
            <a:r>
              <a:rPr lang="pt-BR" dirty="0"/>
              <a:t> permitem testar comandos sem instalação.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+mj-lt"/>
              <a:buAutoNum type="arabicPeriod" startAt="2"/>
            </a:pPr>
            <a:r>
              <a:rPr lang="pt-BR" b="1" dirty="0"/>
              <a:t> Instalando o MySQL Localmente</a:t>
            </a:r>
          </a:p>
          <a:p>
            <a:endParaRPr lang="pt-BR" dirty="0"/>
          </a:p>
          <a:p>
            <a:r>
              <a:rPr lang="pt-BR" dirty="0"/>
              <a:t>Se optar pela instalação local, siga estes passos básicos (exemplo no Windows):</a:t>
            </a:r>
          </a:p>
          <a:p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Baixe o instalador em: </a:t>
            </a:r>
            <a:r>
              <a:rPr lang="pt-BR" dirty="0">
                <a:hlinkClick r:id="rId4"/>
              </a:rPr>
              <a:t>https://dev.mysql.com/downloads/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Durante a instalação, escolha a opção </a:t>
            </a:r>
            <a:r>
              <a:rPr lang="pt-BR" b="1" dirty="0" err="1"/>
              <a:t>Developer</a:t>
            </a:r>
            <a:r>
              <a:rPr lang="pt-BR" b="1" dirty="0"/>
              <a:t> Default</a:t>
            </a:r>
            <a:r>
              <a:rPr lang="pt-B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Defina a senha do usuário root e </a:t>
            </a:r>
            <a:r>
              <a:rPr lang="pt-BR" b="1" dirty="0"/>
              <a:t>guarde-a bem</a:t>
            </a:r>
            <a:r>
              <a:rPr lang="pt-BR" dirty="0"/>
              <a:t>.</a:t>
            </a:r>
          </a:p>
          <a:p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6E4075B-2E22-DDA4-1D5C-ED35EFC1712A}"/>
              </a:ext>
            </a:extLst>
          </p:cNvPr>
          <p:cNvSpPr txBox="1"/>
          <p:nvPr/>
        </p:nvSpPr>
        <p:spPr>
          <a:xfrm>
            <a:off x="420913" y="2172791"/>
            <a:ext cx="61250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latin typeface="Trebuchet MS" panose="020B0603020202020204" pitchFamily="34" charset="0"/>
              </a:rPr>
              <a:t>Preparando o Ambiente de Treino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F243FBF-95EC-8B79-57A2-95250E06E665}"/>
              </a:ext>
            </a:extLst>
          </p:cNvPr>
          <p:cNvSpPr txBox="1"/>
          <p:nvPr/>
        </p:nvSpPr>
        <p:spPr>
          <a:xfrm>
            <a:off x="2452914" y="197200"/>
            <a:ext cx="42526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latin typeface="Segoe UI Black" panose="020B0A02040204020203" pitchFamily="34" charset="0"/>
                <a:ea typeface="Segoe UI Black" panose="020B0A02040204020203" pitchFamily="34" charset="0"/>
              </a:rPr>
              <a:t>MYSQL NA JORNADA DO </a:t>
            </a:r>
            <a:r>
              <a:rPr lang="pt-BR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ANALISTA</a:t>
            </a:r>
            <a:r>
              <a:rPr lang="pt-BR" sz="32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</a:p>
        </p:txBody>
      </p:sp>
      <p:pic>
        <p:nvPicPr>
          <p:cNvPr id="6" name="Imagem 5" descr="Gráfico, Gráfico de explosão solar&#10;&#10;O conteúdo gerado por IA pode estar incorreto.">
            <a:extLst>
              <a:ext uri="{FF2B5EF4-FFF2-40B4-BE49-F238E27FC236}">
                <a16:creationId xmlns:a16="http://schemas.microsoft.com/office/drawing/2014/main" id="{9431588D-316A-390B-8DBA-38BFD5FBF2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3200" y="-322497"/>
            <a:ext cx="2554514" cy="2517059"/>
          </a:xfrm>
          <a:prstGeom prst="rect">
            <a:avLst/>
          </a:prstGeom>
        </p:spPr>
      </p:pic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C39AFFD-CE0B-845E-A8AD-33D075606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8936-71E3-40FB-908B-B2D43CF26F61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82486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070A6-690E-0915-07DF-0391A2C27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02FDC89D-C08A-1E2F-FC0E-43BF86647A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88786"/>
            <a:ext cx="6858000" cy="1875865"/>
          </a:xfrm>
          <a:prstGeom prst="rect">
            <a:avLst/>
          </a:prstGeom>
        </p:spPr>
      </p:pic>
      <p:pic>
        <p:nvPicPr>
          <p:cNvPr id="12" name="Imagem 11" descr="Texto&#10;&#10;O conteúdo gerado por IA pode estar incorreto.">
            <a:extLst>
              <a:ext uri="{FF2B5EF4-FFF2-40B4-BE49-F238E27FC236}">
                <a16:creationId xmlns:a16="http://schemas.microsoft.com/office/drawing/2014/main" id="{9EA3763D-5EF1-5578-879D-6EF6CBECEB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12044"/>
            <a:ext cx="6858000" cy="2571750"/>
          </a:xfrm>
          <a:prstGeom prst="rect">
            <a:avLst/>
          </a:prstGeom>
        </p:spPr>
      </p:pic>
      <p:pic>
        <p:nvPicPr>
          <p:cNvPr id="10" name="Imagem 9" descr="Padrão do plano de fundo&#10;&#10;O conteúdo gerado por IA pode estar incorreto.">
            <a:extLst>
              <a:ext uri="{FF2B5EF4-FFF2-40B4-BE49-F238E27FC236}">
                <a16:creationId xmlns:a16="http://schemas.microsoft.com/office/drawing/2014/main" id="{9652DD22-B8F2-6291-D871-FFF2871FB3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48935"/>
            <a:ext cx="6858000" cy="1875865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75365F37-53D6-78F4-BF9F-4B96CECACE29}"/>
              </a:ext>
            </a:extLst>
          </p:cNvPr>
          <p:cNvSpPr txBox="1"/>
          <p:nvPr/>
        </p:nvSpPr>
        <p:spPr>
          <a:xfrm>
            <a:off x="420914" y="2994075"/>
            <a:ext cx="612502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Teste a instalação no terminal: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Se aparecer o prompt </a:t>
            </a:r>
            <a:r>
              <a:rPr lang="pt-BR" b="1" dirty="0" err="1"/>
              <a:t>mysql</a:t>
            </a:r>
            <a:r>
              <a:rPr lang="pt-BR" b="1" dirty="0"/>
              <a:t>&gt;</a:t>
            </a:r>
            <a:r>
              <a:rPr lang="pt-BR" dirty="0"/>
              <a:t>, você está pronto para treinar.</a:t>
            </a:r>
          </a:p>
          <a:p>
            <a:endParaRPr lang="pt-BR" dirty="0"/>
          </a:p>
          <a:p>
            <a:pPr marL="342900" indent="-342900">
              <a:buFont typeface="+mj-lt"/>
              <a:buAutoNum type="arabicPeriod" startAt="3"/>
            </a:pPr>
            <a:r>
              <a:rPr lang="pt-BR" b="1" dirty="0"/>
              <a:t>Usando Docker para Criar um Ambiente Rápido</a:t>
            </a:r>
          </a:p>
          <a:p>
            <a:endParaRPr lang="pt-BR" dirty="0"/>
          </a:p>
          <a:p>
            <a:r>
              <a:rPr lang="pt-BR" dirty="0"/>
              <a:t>Se você já trabalha com Docker, pode criar um banco MySQL pronto para uso com apenas um comando: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Agora basta conectar com: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76B9D37-EA31-3A0D-D608-70796B067F80}"/>
              </a:ext>
            </a:extLst>
          </p:cNvPr>
          <p:cNvSpPr txBox="1"/>
          <p:nvPr/>
        </p:nvSpPr>
        <p:spPr>
          <a:xfrm>
            <a:off x="420913" y="2172791"/>
            <a:ext cx="61250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latin typeface="Trebuchet MS" panose="020B0603020202020204" pitchFamily="34" charset="0"/>
              </a:rPr>
              <a:t>Preparando o Ambiente de Treino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E133150-C9FC-06CB-703A-78FCD621BE9B}"/>
              </a:ext>
            </a:extLst>
          </p:cNvPr>
          <p:cNvSpPr txBox="1"/>
          <p:nvPr/>
        </p:nvSpPr>
        <p:spPr>
          <a:xfrm>
            <a:off x="2452914" y="197200"/>
            <a:ext cx="42526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latin typeface="Segoe UI Black" panose="020B0A02040204020203" pitchFamily="34" charset="0"/>
                <a:ea typeface="Segoe UI Black" panose="020B0A02040204020203" pitchFamily="34" charset="0"/>
              </a:rPr>
              <a:t>MYSQL NA JORNADA DO </a:t>
            </a:r>
            <a:r>
              <a:rPr lang="pt-BR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ANALISTA</a:t>
            </a:r>
            <a:r>
              <a:rPr lang="pt-BR" sz="32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</a:p>
        </p:txBody>
      </p:sp>
      <p:pic>
        <p:nvPicPr>
          <p:cNvPr id="6" name="Imagem 5" descr="Gráfico, Gráfico de explosão solar&#10;&#10;O conteúdo gerado por IA pode estar incorreto.">
            <a:extLst>
              <a:ext uri="{FF2B5EF4-FFF2-40B4-BE49-F238E27FC236}">
                <a16:creationId xmlns:a16="http://schemas.microsoft.com/office/drawing/2014/main" id="{21BC069B-13D8-C40B-1ED1-F01CF223A0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3200" y="-322497"/>
            <a:ext cx="2554514" cy="2517059"/>
          </a:xfrm>
          <a:prstGeom prst="rect">
            <a:avLst/>
          </a:prstGeom>
        </p:spPr>
      </p:pic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C9EF1B0-8C37-6116-553F-5C04F4758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8936-71E3-40FB-908B-B2D43CF26F61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3444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C9A15-6AE8-E158-32F1-C88AD1EF6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7D9E207-89B3-0703-E5F3-DACD05232914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gradFill flip="none" rotWithShape="1">
            <a:gsLst>
              <a:gs pos="77000">
                <a:srgbClr val="000008"/>
              </a:gs>
              <a:gs pos="100000">
                <a:srgbClr val="7499AB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itulo">
            <a:extLst>
              <a:ext uri="{FF2B5EF4-FFF2-40B4-BE49-F238E27FC236}">
                <a16:creationId xmlns:a16="http://schemas.microsoft.com/office/drawing/2014/main" id="{A964F1FC-E1A3-2B99-DF04-DF85E01A52BB}"/>
              </a:ext>
            </a:extLst>
          </p:cNvPr>
          <p:cNvSpPr txBox="1"/>
          <p:nvPr/>
        </p:nvSpPr>
        <p:spPr>
          <a:xfrm>
            <a:off x="0" y="3531484"/>
            <a:ext cx="6858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bg1"/>
                </a:solidFill>
                <a:effectLst>
                  <a:glow rad="609600">
                    <a:srgbClr val="7499AB">
                      <a:alpha val="54000"/>
                    </a:srgbClr>
                  </a:glo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Biome" panose="020B0502040204020203" pitchFamily="34" charset="0"/>
              </a:rPr>
              <a:t>PARTE II</a:t>
            </a:r>
          </a:p>
          <a:p>
            <a:pPr algn="ctr"/>
            <a:r>
              <a:rPr lang="pt-BR" sz="4400" b="1" dirty="0">
                <a:solidFill>
                  <a:schemeClr val="bg1"/>
                </a:solidFill>
                <a:effectLst>
                  <a:glow rad="609600">
                    <a:srgbClr val="7499AB">
                      <a:alpha val="54000"/>
                    </a:srgbClr>
                  </a:glo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Biome" panose="020B0502040204020203" pitchFamily="34" charset="0"/>
              </a:rPr>
              <a:t>Aprimorando a Visão </a:t>
            </a:r>
          </a:p>
          <a:p>
            <a:pPr algn="ctr"/>
            <a:r>
              <a:rPr lang="pt-BR" sz="4400" b="1" dirty="0">
                <a:solidFill>
                  <a:schemeClr val="bg1"/>
                </a:solidFill>
                <a:effectLst>
                  <a:glow rad="609600">
                    <a:srgbClr val="7499AB">
                      <a:alpha val="54000"/>
                    </a:srgbClr>
                  </a:glo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Biome" panose="020B0502040204020203" pitchFamily="34" charset="0"/>
              </a:rPr>
              <a:t>(Consultas Avançadas)</a:t>
            </a: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455C8EC7-4CD0-C63C-1EB6-6571905502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6A4996FF-924D-18C0-B4A5-6AE21465B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685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18" name="Imagem 17" descr="Gráfico, Gráfico de explosão solar&#10;&#10;O conteúdo gerado por IA pode estar incorreto.">
            <a:extLst>
              <a:ext uri="{FF2B5EF4-FFF2-40B4-BE49-F238E27FC236}">
                <a16:creationId xmlns:a16="http://schemas.microsoft.com/office/drawing/2014/main" id="{7C5687F0-11CF-E985-7EDB-E59EDC8281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3686" y="-432170"/>
            <a:ext cx="4252686" cy="3555155"/>
          </a:xfrm>
          <a:prstGeom prst="rect">
            <a:avLst/>
          </a:prstGeom>
        </p:spPr>
      </p:pic>
      <p:pic>
        <p:nvPicPr>
          <p:cNvPr id="19" name="Imagem 18" descr="Gráfico, Gráfico de explosão solar&#10;&#10;O conteúdo gerado por IA pode estar incorreto.">
            <a:extLst>
              <a:ext uri="{FF2B5EF4-FFF2-40B4-BE49-F238E27FC236}">
                <a16:creationId xmlns:a16="http://schemas.microsoft.com/office/drawing/2014/main" id="{C1B2B231-ECB7-304D-2F67-99F75BB96A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4513" y="6531663"/>
            <a:ext cx="2344057" cy="1959582"/>
          </a:xfrm>
          <a:prstGeom prst="rect">
            <a:avLst/>
          </a:prstGeom>
        </p:spPr>
      </p:pic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D92B2A1E-C184-572F-82AF-33882EFCA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8936-71E3-40FB-908B-B2D43CF26F61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83284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E1164-148B-8969-80F9-B19B3A65E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01FDEAF-3473-F733-F372-9B7B00BFF664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gradFill flip="none" rotWithShape="1">
            <a:gsLst>
              <a:gs pos="77000">
                <a:srgbClr val="000008"/>
              </a:gs>
              <a:gs pos="100000">
                <a:srgbClr val="7499AB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itulo">
            <a:extLst>
              <a:ext uri="{FF2B5EF4-FFF2-40B4-BE49-F238E27FC236}">
                <a16:creationId xmlns:a16="http://schemas.microsoft.com/office/drawing/2014/main" id="{7D118D89-393E-A307-D49D-76906C890507}"/>
              </a:ext>
            </a:extLst>
          </p:cNvPr>
          <p:cNvSpPr txBox="1"/>
          <p:nvPr/>
        </p:nvSpPr>
        <p:spPr>
          <a:xfrm>
            <a:off x="0" y="3531486"/>
            <a:ext cx="6858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bg1"/>
                </a:solidFill>
                <a:effectLst>
                  <a:glow rad="609600">
                    <a:srgbClr val="7499AB">
                      <a:alpha val="54000"/>
                    </a:srgbClr>
                  </a:glo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Biome" panose="020B0502040204020203" pitchFamily="34" charset="0"/>
              </a:rPr>
              <a:t>PARTE III</a:t>
            </a:r>
          </a:p>
          <a:p>
            <a:pPr algn="ctr"/>
            <a:r>
              <a:rPr lang="pt-BR" sz="4400" b="1" dirty="0">
                <a:solidFill>
                  <a:schemeClr val="bg1"/>
                </a:solidFill>
                <a:effectLst>
                  <a:glow rad="609600">
                    <a:srgbClr val="7499AB">
                      <a:alpha val="54000"/>
                    </a:srgbClr>
                  </a:glo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Biome" panose="020B0502040204020203" pitchFamily="34" charset="0"/>
              </a:rPr>
              <a:t>Olho Desperto </a:t>
            </a:r>
          </a:p>
          <a:p>
            <a:pPr algn="ctr"/>
            <a:r>
              <a:rPr lang="pt-BR" sz="4400" b="1" dirty="0">
                <a:solidFill>
                  <a:schemeClr val="bg1"/>
                </a:solidFill>
                <a:effectLst>
                  <a:glow rad="609600">
                    <a:srgbClr val="7499AB">
                      <a:alpha val="54000"/>
                    </a:srgbClr>
                  </a:glo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Biome" panose="020B0502040204020203" pitchFamily="34" charset="0"/>
              </a:rPr>
              <a:t>(Poder Oculto)</a:t>
            </a: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6F9520B9-5DFE-4F95-5B38-3A63B0C8AE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67CE0470-80F8-031A-B47C-1CA280659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685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18" name="Imagem 17" descr="Gráfico, Gráfico de explosão solar&#10;&#10;O conteúdo gerado por IA pode estar incorreto.">
            <a:extLst>
              <a:ext uri="{FF2B5EF4-FFF2-40B4-BE49-F238E27FC236}">
                <a16:creationId xmlns:a16="http://schemas.microsoft.com/office/drawing/2014/main" id="{CF3BC1C5-E51D-79CD-60B0-54AD7714A5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3686" y="-432170"/>
            <a:ext cx="4252686" cy="3555155"/>
          </a:xfrm>
          <a:prstGeom prst="rect">
            <a:avLst/>
          </a:prstGeom>
        </p:spPr>
      </p:pic>
      <p:pic>
        <p:nvPicPr>
          <p:cNvPr id="19" name="Imagem 18" descr="Gráfico, Gráfico de explosão solar&#10;&#10;O conteúdo gerado por IA pode estar incorreto.">
            <a:extLst>
              <a:ext uri="{FF2B5EF4-FFF2-40B4-BE49-F238E27FC236}">
                <a16:creationId xmlns:a16="http://schemas.microsoft.com/office/drawing/2014/main" id="{8B9F7872-687B-241F-1B87-B97F38CE93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4513" y="6531663"/>
            <a:ext cx="2344057" cy="1959582"/>
          </a:xfrm>
          <a:prstGeom prst="rect">
            <a:avLst/>
          </a:prstGeom>
        </p:spPr>
      </p:pic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68BA8E08-A494-869F-08CB-90AA37B4F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8936-71E3-40FB-908B-B2D43CF26F61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03141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65E88-8D31-7E8A-081A-EA3921BE3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1E0C43E-98F7-3C38-EF9D-AC93F1E51507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gradFill flip="none" rotWithShape="1">
            <a:gsLst>
              <a:gs pos="77000">
                <a:srgbClr val="000008"/>
              </a:gs>
              <a:gs pos="100000">
                <a:srgbClr val="7499AB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itulo">
            <a:extLst>
              <a:ext uri="{FF2B5EF4-FFF2-40B4-BE49-F238E27FC236}">
                <a16:creationId xmlns:a16="http://schemas.microsoft.com/office/drawing/2014/main" id="{1CBF94EE-7F84-3AC4-7731-434F1597AF50}"/>
              </a:ext>
            </a:extLst>
          </p:cNvPr>
          <p:cNvSpPr txBox="1"/>
          <p:nvPr/>
        </p:nvSpPr>
        <p:spPr>
          <a:xfrm>
            <a:off x="0" y="3531494"/>
            <a:ext cx="6858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bg1"/>
                </a:solidFill>
                <a:effectLst>
                  <a:glow rad="609600">
                    <a:srgbClr val="7499AB">
                      <a:alpha val="54000"/>
                    </a:srgbClr>
                  </a:glo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Biome" panose="020B0502040204020203" pitchFamily="34" charset="0"/>
              </a:rPr>
              <a:t>PARTE IV </a:t>
            </a:r>
          </a:p>
          <a:p>
            <a:pPr algn="ctr"/>
            <a:r>
              <a:rPr lang="pt-BR" sz="4400" b="1" dirty="0">
                <a:solidFill>
                  <a:schemeClr val="bg1"/>
                </a:solidFill>
                <a:effectLst>
                  <a:glow rad="609600">
                    <a:srgbClr val="7499AB">
                      <a:alpha val="54000"/>
                    </a:srgbClr>
                  </a:glo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Biome" panose="020B0502040204020203" pitchFamily="34" charset="0"/>
              </a:rPr>
              <a:t>Mestre dos Dados (Nível Supremo)</a:t>
            </a: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BAD32DF9-BEC9-8202-4761-9FD9A321CE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07FA6300-C7C0-BDFF-45BF-360FE7C53C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685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18" name="Imagem 17" descr="Gráfico, Gráfico de explosão solar&#10;&#10;O conteúdo gerado por IA pode estar incorreto.">
            <a:extLst>
              <a:ext uri="{FF2B5EF4-FFF2-40B4-BE49-F238E27FC236}">
                <a16:creationId xmlns:a16="http://schemas.microsoft.com/office/drawing/2014/main" id="{5F241349-F3C5-DBB2-58C7-337C35F088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3686" y="-432170"/>
            <a:ext cx="4252686" cy="3555155"/>
          </a:xfrm>
          <a:prstGeom prst="rect">
            <a:avLst/>
          </a:prstGeom>
        </p:spPr>
      </p:pic>
      <p:pic>
        <p:nvPicPr>
          <p:cNvPr id="19" name="Imagem 18" descr="Gráfico, Gráfico de explosão solar&#10;&#10;O conteúdo gerado por IA pode estar incorreto.">
            <a:extLst>
              <a:ext uri="{FF2B5EF4-FFF2-40B4-BE49-F238E27FC236}">
                <a16:creationId xmlns:a16="http://schemas.microsoft.com/office/drawing/2014/main" id="{53440EE7-1707-CC64-D766-1B0C1DA683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4513" y="6531663"/>
            <a:ext cx="2344057" cy="1959582"/>
          </a:xfrm>
          <a:prstGeom prst="rect">
            <a:avLst/>
          </a:prstGeom>
        </p:spPr>
      </p:pic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259AA70D-868D-B663-DA0E-C01ECC125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8936-71E3-40FB-908B-B2D43CF26F61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53960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339</TotalTime>
  <Words>1153</Words>
  <Application>Microsoft Office PowerPoint</Application>
  <PresentationFormat>Papel A4 (210 x 297 mm)</PresentationFormat>
  <Paragraphs>197</Paragraphs>
  <Slides>17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5" baseType="lpstr">
      <vt:lpstr>Aptos</vt:lpstr>
      <vt:lpstr>Aptos Display</vt:lpstr>
      <vt:lpstr>Arial</vt:lpstr>
      <vt:lpstr>Gill Sans MT</vt:lpstr>
      <vt:lpstr>Segoe UI Black</vt:lpstr>
      <vt:lpstr>Trebuchet MS</vt:lpstr>
      <vt:lpstr>Verdana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Fábio Luís de Oliveira</dc:creator>
  <cp:lastModifiedBy>Fábio Luís de Oliveira</cp:lastModifiedBy>
  <cp:revision>21</cp:revision>
  <dcterms:created xsi:type="dcterms:W3CDTF">2025-08-06T01:51:57Z</dcterms:created>
  <dcterms:modified xsi:type="dcterms:W3CDTF">2025-08-15T04:02:33Z</dcterms:modified>
</cp:coreProperties>
</file>